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f448d36-6916-79fe-8ced-265be5537ce1}">
          <p14:sldIdLst>
            <p14:sldId id="256"/>
          </p14:sldIdLst>
        </p14:section>
        <p14:section name="Problem" id="{e3300bbc-7e68-55fe-9ed1-dd753719dd89}">
          <p14:sldIdLst>
            <p14:sldId id="257"/>
          </p14:sldIdLst>
        </p14:section>
        <p14:section name="Data and model" id="{dc46a4c6-7025-319c-5aa7-f213910f684c}">
          <p14:sldIdLst>
            <p14:sldId id="258"/>
            <p14:sldId id="259"/>
            <p14:sldId id="260"/>
          </p14:sldIdLst>
        </p14:section>
        <p14:section name="Results" id="{b77718be-db06-6b8d-1298-03219777a446}">
          <p14:sldIdLst>
            <p14:sldId id="261"/>
            <p14:sldId id="262"/>
          </p14:sldIdLst>
        </p14:section>
        <p14:section name="Demo and platform" id="{330bae5f-28fe-012d-76a7-7498f17e74b8}">
          <p14:sldIdLst>
            <p14:sldId id="263"/>
            <p14:sldId id="264"/>
          </p14:sldIdLst>
        </p14:section>
        <p14:section name="Close" id="{c4f101c3-6c27-0093-20af-485de4713bc6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16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1616"/>
                </a:solidFill>
                <a:latin typeface="+mn-lt"/>
              </a:rPr>
              <a:t>Laundering caught when flagging the riskiest 1%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baseline</c:v>
                </c:pt>
              </c:strCache>
            </c:strRef>
          </c:tx>
          <c:spPr>
            <a:solidFill>
              <a:srgbClr val="A8A8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616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All payments</c:v>
                  </c:pt>
                  <c:pt idx="1">
                    <c:v>ACH payments only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25.7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StudentShield (XGBoost)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616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All payments</c:v>
                  </c:pt>
                  <c:pt idx="1">
                    <c:v>ACH payments only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69.5</c:v>
                </c:pt>
                <c:pt idx="1">
                  <c:v>53.6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6161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52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52525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Manchester.Ai. StudentShield spots money-mule payments the moment they land, and warns the student before they send the money on, while the bank's analyst gets an explanation. Everything runs on IBM LinuxONE.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a mule receives criminal money and forwards it within hours. 23% of suspected mule cases on the Cifas database involved people aged 21 and under, 64% up to age 30. Banks normally catch mules after the money has gone. We act in the window before it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IBM's synthetic AML dataset, HI-Small. We split by date: train on 2 to 6 September, choose cut-offs on 7 to 8, and test once on 9 to 10, about 845,000 payments the model never saw. Every feature only uses the past, so the demo is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payment is scored as it lands. Two cut-offs on the same score: the analyst level catches more, the student level only fires when the model is confident, because interrupting an innocent person has a real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the model is built in Jupyter on LinuxONE and exported. Bottom: each payment is scored as it lands; above the student cut-off the student is warned and outgoing payments paused, above the analyst cut-off only the analyst is alerted.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unseen test days, flagging the riskiest 1% catches 69.5% of laundering versus 25.7% for a hand-written bank rule. Within ACH payments alone the rule collapses to 2% while we catch 53.6%, so the model has learned mule behaviour, not just payment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cut-offs on one score. The analyst level is recall-weighted: about half its alerts are real, and reviewing them is the analyst's job. The student level is precision-weighted: 7 in 10 warnings are real mule payments, because a wrong warning costs a real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plays the strongest real fan-in case from the test days through the model. The student is warned about 19 hours before the money would have moved out. Only the student persona is illustrative; payments are real rows of IBM's synthetic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on LinuxONE: data loading, features, training in 19 seconds with no GPU, and live scoring in under a millisecond. Two Docker containers on IBM's s390x base image; the model service is on a private network and only the web app is public. Show the s390x badge and /health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design: the student is never told they are suspected, a person makes every serious decision, and the model uses only how money moves. Limitations: synthetic data, so real-world accuracy needs real bank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StudentShield is a smoke alarm, not a fire investigation: it goes off while there is still time.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A6C8FF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Manchester.Ai · IBM Z Datathon 2026 · SSF2026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StudentShield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6C8FF"/>
                </a:solidFill>
              </a:rPr>
              <a:t>Real-time money-mule early warning on IBM LinuxONE: warn the student before the money moves 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Manchester.Ai_IBM Z Datathon 2026 Project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C8FF"/>
                </a:solidFill>
              </a:rPr>
              <a:t>Theme 1: Real-Time AI for Critical Decisions  ·  Event code SSF2026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Thinojen Balakumaresan · Julian Newson · Sshubhan Kammari · Arda Yencer  ·  University of Manchester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Young people are recruited as money mules, and caught only after the money has gone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73736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23%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suspected mule cases on the Cifas database involved people aged 21 and under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F6F"/>
                </a:solidFill>
              </a:rPr>
              <a:t>Cifas &amp; UK Finance, H1 2023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4297680" y="173736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64%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involved people aged up to 30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F6F"/>
                </a:solidFill>
              </a:rPr>
              <a:t>Cifas &amp; UK Finance, H1 2023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8046720" y="173736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920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£1.28bn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lost to UK payment fraud in 2025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F6F"/>
                </a:solidFill>
              </a:rPr>
              <a:t>UK Finance, Annual Fraud Report 2026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Usual approach: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bank finds the mule after the chain is complete. The victim's money is gone; the student loses their account and may be prosecuted.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62FE"/>
                </a:solidFill>
              </a:rPr>
              <a:t>Our approach: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act in the hours between money landing and money leaving.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IBM's own AML data, evaluated the way a bank would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5252"/>
                </a:solidFill>
              </a:rPr>
              <a:t>IBM Transactions for AML, HI-Small (synthetic, fully labelled): 5.08M payments, 515k accounts, 1 in 1,000 laundering, 15 currencies converted to USD</a:t>
            </a:r>
            <a:endParaRPr lang="en-US" sz="1800" dirty="0"/>
          </a:p>
        </p:txBody>
      </p:sp>
      <p:sp>
        <p:nvSpPr>
          <p:cNvPr id="4" name="split Warm-up"/>
          <p:cNvSpPr/>
          <p:nvPr/>
        </p:nvSpPr>
        <p:spPr>
          <a:xfrm>
            <a:off x="548640" y="1920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C6C6C6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</a:rPr>
              <a:t>Warm-up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1 Sep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history only</a:t>
            </a:r>
            <a:endParaRPr lang="en-US" sz="1400" dirty="0"/>
          </a:p>
        </p:txBody>
      </p:sp>
      <p:sp>
        <p:nvSpPr>
          <p:cNvPr id="7" name="split Train"/>
          <p:cNvSpPr/>
          <p:nvPr/>
        </p:nvSpPr>
        <p:spPr>
          <a:xfrm>
            <a:off x="3337560" y="1920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A6C8FF"/>
          </a:solidFill>
          <a:ln w="12700">
            <a:solidFill>
              <a:srgbClr val="A6C8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</a:rPr>
              <a:t>Train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2–6 Sep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2.09M payments</a:t>
            </a:r>
            <a:endParaRPr lang="en-US" sz="1400" dirty="0"/>
          </a:p>
        </p:txBody>
      </p:sp>
      <p:sp>
        <p:nvSpPr>
          <p:cNvPr id="10" name="split Validation"/>
          <p:cNvSpPr/>
          <p:nvPr/>
        </p:nvSpPr>
        <p:spPr>
          <a:xfrm>
            <a:off x="6126480" y="1920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A6C8FF"/>
          </a:solidFill>
          <a:ln w="12700">
            <a:solidFill>
              <a:srgbClr val="A6C8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</a:rPr>
              <a:t>Validation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7–8 Sep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945k · cut-offs chosen</a:t>
            </a:r>
            <a:endParaRPr lang="en-US" sz="1400" dirty="0"/>
          </a:p>
        </p:txBody>
      </p:sp>
      <p:sp>
        <p:nvSpPr>
          <p:cNvPr id="13" name="split Test"/>
          <p:cNvSpPr/>
          <p:nvPr/>
        </p:nvSpPr>
        <p:spPr>
          <a:xfrm>
            <a:off x="8915400" y="1920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9–10 Sep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845k · touched once</a:t>
            </a:r>
            <a:endParaRPr lang="en-US" sz="1400" dirty="0"/>
          </a:p>
        </p:txBody>
      </p:sp>
      <p:sp>
        <p:nvSpPr>
          <p:cNvPr id="16" name="num 1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657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Split by date, never randomly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5252"/>
                </a:solidFill>
              </a:rPr>
              <a:t>A bank trains on last month and scores next month. A random split would leak mule rings into the test set.</a:t>
            </a:r>
            <a:endParaRPr lang="en-US" sz="1500" dirty="0"/>
          </a:p>
        </p:txBody>
      </p:sp>
      <p:sp>
        <p:nvSpPr>
          <p:cNvPr id="19" name="num 2"/>
          <p:cNvSpPr/>
          <p:nvPr/>
        </p:nvSpPr>
        <p:spPr>
          <a:xfrm>
            <a:off x="548640" y="45720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526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Point-in-time features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5252"/>
                </a:solidFill>
              </a:rPr>
              <a:t>All 25 features use only payments strictly before the one being scored: exactly what the bank knows when money lands. Checked against brute force.</a:t>
            </a:r>
            <a:endParaRPr lang="en-US" sz="1500" dirty="0"/>
          </a:p>
        </p:txBody>
      </p:sp>
      <p:sp>
        <p:nvSpPr>
          <p:cNvPr id="22" name="num 3"/>
          <p:cNvSpPr/>
          <p:nvPr/>
        </p:nvSpPr>
        <p:spPr>
          <a:xfrm>
            <a:off x="548640" y="54406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394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Honest cleaning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5252"/>
                </a:solidFill>
              </a:rPr>
              <a:t>Dropped 11 Sep onwards (the generator stops making normal payments) and self-transfers (11.6% of rows, almost no laundering).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works: one score, two people told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Payment lands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Each incoming payment is sent to the scoring service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8D8D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tep 2"/>
          <p:cNvSpPr/>
          <p:nvPr/>
        </p:nvSpPr>
        <p:spPr>
          <a:xfrm>
            <a:off x="3383280" y="14630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25 signals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The payment, the receiving account (fan-in, pass-through, age) and the sender (fan-out)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8D8D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tep 3"/>
          <p:cNvSpPr/>
          <p:nvPr/>
        </p:nvSpPr>
        <p:spPr>
          <a:xfrm>
            <a:off x="6217920" y="14630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XGBoost score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Scored on LinuxONE in under a millisecond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8D8D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tep 4"/>
          <p:cNvSpPr/>
          <p:nvPr/>
        </p:nvSpPr>
        <p:spPr>
          <a:xfrm>
            <a:off x="9052560" y="14630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Reasons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</a:rPr>
              <a:t>Top 3 SHAP contributions become plain-English reasons</a:t>
            </a:r>
            <a:endParaRPr lang="en-US" sz="1300" dirty="0"/>
          </a:p>
        </p:txBody>
      </p:sp>
      <p:sp>
        <p:nvSpPr>
          <p:cNvPr id="22" name="analyst card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CF4D6"/>
          </a:solidFill>
          <a:ln w="12700">
            <a:solidFill>
              <a:srgbClr val="FCF4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Analyst alert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480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Recall-weighted cut-off (F2). The bank's analyst sees the account, money flow, reasons and rarity ("1 in N payments scores this high"). The student's phone stays normal.</a:t>
            </a:r>
            <a:endParaRPr lang="en-US" sz="1400" dirty="0"/>
          </a:p>
        </p:txBody>
      </p:sp>
      <p:sp>
        <p:nvSpPr>
          <p:cNvPr id="25" name="student card"/>
          <p:cNvSpPr/>
          <p:nvPr/>
        </p:nvSpPr>
        <p:spPr>
          <a:xfrm>
            <a:off x="6172200" y="38404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1F1"/>
          </a:solidFill>
          <a:ln w="12700">
            <a:solidFill>
              <a:srgbClr val="FFF1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Student warning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480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Precision-weighted cut-off (F0.5). A calm question on the phone: "Has someone asked you to move this money?" Payments out are paused and every answer goes to the analyst.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Design flowchart</a:t>
            </a:r>
            <a:endParaRPr lang="en-US" sz="3200" dirty="0"/>
          </a:p>
        </p:txBody>
      </p:sp>
      <p:pic>
        <p:nvPicPr>
          <p:cNvPr id="3" name="flowchart" descr="/home/claude/repo/flowchart/StudentShield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1188720"/>
            <a:ext cx="8193024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2.7× more laundering caught than a bank-style rule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5252"/>
                </a:solidFill>
              </a:rPr>
              <a:t>Test days 9–10 Sep: ~845k payments the model never saw, at the real 0.1% laundering rate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0.430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423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PR-AUC, vs 0.024 for the rules (18×)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246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53.6%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886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caught within ACH alone, where the rules collapse to 2.0%: it learns mule behaviour, not payment type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709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19.0 s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5349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to train on 2.09M payments on LinuxONE, no GPU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7 in 10 student warnings are real mule activity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5252"/>
                </a:solidFill>
              </a:rPr>
              <a:t>Each cut-off maximises F-beta on validation, then is measured once on test. The bank can move along the trade-off curve.</a:t>
            </a:r>
            <a:endParaRPr lang="en-US" sz="1800" dirty="0"/>
          </a:p>
        </p:txBody>
      </p:sp>
      <p:sp>
        <p:nvSpPr>
          <p:cNvPr id="4" name="Analyst alert (F2)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CF4D6"/>
          </a:solidFill>
          <a:ln w="12700">
            <a:solidFill>
              <a:srgbClr val="FCF4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</a:rPr>
              <a:t>Analyst alert (F2)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</a:rPr>
              <a:t>49.5%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alerts are real (1 in 2)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</a:rPr>
              <a:t>45.2%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all laundering caught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92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</a:rPr>
              <a:t>~220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false alarms a day, reviewed by a person</a:t>
            </a:r>
            <a:endParaRPr lang="en-US" sz="1500" dirty="0"/>
          </a:p>
        </p:txBody>
      </p:sp>
      <p:sp>
        <p:nvSpPr>
          <p:cNvPr id="12" name="Student warning (F0.5)"/>
          <p:cNvSpPr/>
          <p:nvPr/>
        </p:nvSpPr>
        <p:spPr>
          <a:xfrm>
            <a:off x="6172200" y="182880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1F1"/>
          </a:solidFill>
          <a:ln w="12700">
            <a:solidFill>
              <a:srgbClr val="FFF1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A1E28"/>
                </a:solidFill>
              </a:rPr>
              <a:t>Student warning (F0.5)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97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</a:rPr>
              <a:t>69.7%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warnings are real (7 in 10)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94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</a:rPr>
              <a:t>37.8%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all laundering caught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892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</a:rPr>
              <a:t>~78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wrong warnings a day: about 1 in 5,400 innocent payments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demo: a real case from the unseen test days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5252"/>
                </a:solidFill>
              </a:rPr>
              <a:t>http://148.100.108.113:5000 · every score on screen is real model output on LinuxONE</a:t>
            </a:r>
            <a:endParaRPr lang="en-US" sz="1800" dirty="0"/>
          </a:p>
        </p:txBody>
      </p:sp>
      <p:sp>
        <p:nvSpPr>
          <p:cNvPr id="4" name="panel Payment stream"/>
          <p:cNvSpPr/>
          <p:nvPr/>
        </p:nvSpPr>
        <p:spPr>
          <a:xfrm>
            <a:off x="548640" y="1828800"/>
            <a:ext cx="3474720" cy="2468880"/>
          </a:xfrm>
          <a:prstGeom prst="roundRect">
            <a:avLst>
              <a:gd name="adj" fmla="val 444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Payment stream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Real payments arrive; account tiles turn amber at analyst level and red at student level</a:t>
            </a:r>
            <a:endParaRPr lang="en-US" sz="1400" dirty="0"/>
          </a:p>
        </p:txBody>
      </p:sp>
      <p:sp>
        <p:nvSpPr>
          <p:cNvPr id="7" name="panel Student's phone"/>
          <p:cNvSpPr/>
          <p:nvPr/>
        </p:nvSpPr>
        <p:spPr>
          <a:xfrm>
            <a:off x="4297680" y="1828800"/>
            <a:ext cx="3474720" cy="2468880"/>
          </a:xfrm>
          <a:prstGeom prst="roundRect">
            <a:avLst>
              <a:gd name="adj" fmla="val 444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Student's phone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146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Warning, "Has someone asked you to move this money?", outgoing payments paused, re-asked only when new flagged money arrives</a:t>
            </a:r>
            <a:endParaRPr lang="en-US" sz="1400" dirty="0"/>
          </a:p>
        </p:txBody>
      </p:sp>
      <p:sp>
        <p:nvSpPr>
          <p:cNvPr id="10" name="panel Analyst console"/>
          <p:cNvSpPr/>
          <p:nvPr/>
        </p:nvSpPr>
        <p:spPr>
          <a:xfrm>
            <a:off x="8046720" y="1828800"/>
            <a:ext cx="3474720" cy="2468880"/>
          </a:xfrm>
          <a:prstGeom prst="roundRect">
            <a:avLst>
              <a:gd name="adj" fmla="val 444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Analyst console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146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Rarity, money-flow graph with the held transfer, three plain-English reasons, and every answer the student gave</a:t>
            </a:r>
            <a:endParaRPr lang="en-US" sz="1400" dirty="0"/>
          </a:p>
        </p:txBody>
      </p:sp>
      <p:sp>
        <p:nvSpPr>
          <p:cNvPr id="13" name="lead time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7091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~19 h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7091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In the case played, the student was warned about 19 hours before the money moved out, and the outbound transfer was held.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Built and running end to end on IBM LinuxONE (s390x)</a:t>
            </a:r>
            <a:endParaRPr lang="en-US" sz="3200" dirty="0"/>
          </a:p>
        </p:txBody>
      </p:sp>
      <p:sp>
        <p:nvSpPr>
          <p:cNvPr id="3" name="vm box"/>
          <p:cNvSpPr/>
          <p:nvPr/>
        </p:nvSpPr>
        <p:spPr>
          <a:xfrm>
            <a:off x="548640" y="1371600"/>
            <a:ext cx="6949440" cy="4754880"/>
          </a:xfrm>
          <a:prstGeom prst="roundRect">
            <a:avLst>
              <a:gd name="adj" fmla="val 2308"/>
            </a:avLst>
          </a:prstGeom>
          <a:solidFill>
            <a:srgbClr val="F2F4F8"/>
          </a:solidFill>
          <a:ln w="12700">
            <a:solidFill>
              <a:srgbClr val="8D8D8D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5252"/>
                </a:solidFill>
              </a:rPr>
              <a:t>LinuxONE Community Cloud VM · s390x · 3 vCPU, 8 GB, no GPU</a:t>
            </a:r>
            <a:endParaRPr lang="en-US" sz="1300" dirty="0"/>
          </a:p>
        </p:txBody>
      </p:sp>
      <p:sp>
        <p:nvSpPr>
          <p:cNvPr id="5" name="jupyter"/>
          <p:cNvSpPr/>
          <p:nvPr/>
        </p:nvSpPr>
        <p:spPr>
          <a:xfrm>
            <a:off x="822960" y="19659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</a:rPr>
              <a:t>Jupyter container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</a:rPr>
              <a:t>Notebooks 01–03: cleaning, 25 features, XGBoost trained in 19.0 s</a:t>
            </a:r>
            <a:endParaRPr lang="en-US" sz="1600" dirty="0"/>
          </a:p>
        </p:txBody>
      </p:sp>
      <p:sp>
        <p:nvSpPr>
          <p:cNvPr id="7" name="mule-service"/>
          <p:cNvSpPr/>
          <p:nvPr/>
        </p:nvSpPr>
        <p:spPr>
          <a:xfrm>
            <a:off x="822960" y="411480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2062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mule-service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Flask + XGBoost scoring API. Private network only, no public port</a:t>
            </a:r>
            <a:endParaRPr lang="en-US" sz="1600" dirty="0"/>
          </a:p>
        </p:txBody>
      </p:sp>
      <p:sp>
        <p:nvSpPr>
          <p:cNvPr id="9" name="studentshield"/>
          <p:cNvSpPr/>
          <p:nvPr/>
        </p:nvSpPr>
        <p:spPr>
          <a:xfrm>
            <a:off x="4251960" y="411480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42062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studentshield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Flask web app, the only public port (5000)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</a:rPr>
              <a:t>model + cut-offs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</a:rPr>
              <a:t>(shared folder) 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749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mule-net ↔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417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2FE"/>
                </a:solidFill>
              </a:rPr>
              <a:t>On-platform 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Training and scoring both run on s390x; payment data never leaves the platform it lives 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606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2FE"/>
                </a:solidFill>
              </a:rPr>
              <a:t>Containerised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Docker images on IBM's s390x base image, --restart unless-stopped: both came back on their own after a VM restart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794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2FE"/>
                </a:solidFill>
              </a:rPr>
              <a:t>Secure by design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The model API sits on a private Docker network; only the web app is exposed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983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2FE"/>
                </a:solidFill>
              </a:rPr>
              <a:t>Real-time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</a:rPr>
              <a:t>Under a millisecond per payment; stateless scoring scales out with more replicas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Designed to protect students, not accuse them</a:t>
            </a:r>
            <a:endParaRPr lang="en-US" sz="3200" dirty="0"/>
          </a:p>
        </p:txBody>
      </p:sp>
      <p:sp>
        <p:nvSpPr>
          <p:cNvPr id="3" name="ethics 1"/>
          <p:cNvSpPr/>
          <p:nvPr/>
        </p:nvSpPr>
        <p:spPr>
          <a:xfrm>
            <a:off x="548640" y="14630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ick 1"/>
          <p:cNvSpPr/>
          <p:nvPr/>
        </p:nvSpPr>
        <p:spPr>
          <a:xfrm>
            <a:off x="777240" y="17373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tipping off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The phone never shows a score, reason or suspicion: only a safeguarding question banks already ask</a:t>
            </a:r>
            <a:endParaRPr lang="en-US" sz="1400" dirty="0"/>
          </a:p>
        </p:txBody>
      </p:sp>
      <p:sp>
        <p:nvSpPr>
          <p:cNvPr id="7" name="ethics 2"/>
          <p:cNvSpPr/>
          <p:nvPr/>
        </p:nvSpPr>
        <p:spPr>
          <a:xfrm>
            <a:off x="6172200" y="14630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ick 2"/>
          <p:cNvSpPr/>
          <p:nvPr/>
        </p:nvSpPr>
        <p:spPr>
          <a:xfrm>
            <a:off x="6400800" y="17373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6459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person decides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The model never freezes an account or files a report; an analyst reviews every alert</a:t>
            </a:r>
            <a:endParaRPr lang="en-US" sz="1400" dirty="0"/>
          </a:p>
        </p:txBody>
      </p:sp>
      <p:sp>
        <p:nvSpPr>
          <p:cNvPr id="11" name="ethics 3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tick 3"/>
          <p:cNvSpPr/>
          <p:nvPr/>
        </p:nvSpPr>
        <p:spPr>
          <a:xfrm>
            <a:off x="777240" y="33375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461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Strict cut-off for people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Students are contacted only at the precision-weighted level; holds happen only there</a:t>
            </a:r>
            <a:endParaRPr lang="en-US" sz="1400" dirty="0"/>
          </a:p>
        </p:txBody>
      </p:sp>
      <p:sp>
        <p:nvSpPr>
          <p:cNvPr id="15" name="ethics 4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ick 4"/>
          <p:cNvSpPr/>
          <p:nvPr/>
        </p:nvSpPr>
        <p:spPr>
          <a:xfrm>
            <a:off x="6400800" y="33375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2461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identity features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No age, nationality or ethnicity in the model; currency features flagged for a fairness check before real use</a:t>
            </a:r>
            <a:endParaRPr lang="en-US" sz="1400" dirty="0"/>
          </a:p>
        </p:txBody>
      </p:sp>
      <p:sp>
        <p:nvSpPr>
          <p:cNvPr id="19" name="ethics 5"/>
          <p:cNvSpPr/>
          <p:nvPr/>
        </p:nvSpPr>
        <p:spPr>
          <a:xfrm>
            <a:off x="548640" y="46634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0" name="tick 5"/>
          <p:cNvSpPr/>
          <p:nvPr/>
        </p:nvSpPr>
        <p:spPr>
          <a:xfrm>
            <a:off x="777240" y="49377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8463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Honest evaluation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Synthetic data labelled as such; test set used once; the failed Isolation Forest result reported</a:t>
            </a:r>
            <a:endParaRPr lang="en-US" sz="1400" dirty="0"/>
          </a:p>
        </p:txBody>
      </p:sp>
      <p:sp>
        <p:nvSpPr>
          <p:cNvPr id="23" name="ethics 6"/>
          <p:cNvSpPr/>
          <p:nvPr/>
        </p:nvSpPr>
        <p:spPr>
          <a:xfrm>
            <a:off x="6172200" y="46634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4" name="tick 6"/>
          <p:cNvSpPr/>
          <p:nvPr/>
        </p:nvSpPr>
        <p:spPr>
          <a:xfrm>
            <a:off x="6400800" y="49377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8463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Privacy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</a:rPr>
              <a:t>Synthetic data, no real customers; scoring stays on the platform, nothing sent to outside services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smoke alarm, not a fire investigation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6C8FF"/>
                </a:solidFill>
              </a:rPr>
              <a:t>Code: github.com/ksshubhan/manchester-imbz-datathon-2026  ·  Live: http://148.100.108.113:5000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6C6C6"/>
                </a:solidFill>
              </a:rPr>
              <a:t>Open source: XGBoost (xgboost.ai) · pandas (pandas.pydata.org) · NumPy (numpy.org) · scikit-learn (scikit-learn.org) · Flask (flask.palletsprojects.com) · JupyterLab (jupyter.org) · Docker (docker.com)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C6C6"/>
                </a:solidFill>
              </a:rPr>
              <a:t>Data: IBM Transactions for AML, HI-Small (Kaggle; Altman et al., NeurIPS 2023)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Thinojen Balakumaresan · Julian Newson · Sshubhan Kammari · Arda Yencer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Shield">
  <a:themeElements>
    <a:clrScheme name="StudentShield">
      <a:dk1>
        <a:srgbClr val="161616"/>
      </a:dk1>
      <a:lt1>
        <a:srgbClr val="FFFFFF"/>
      </a:lt1>
      <a:dk2>
        <a:srgbClr val="0F2B5B"/>
      </a:dk2>
      <a:lt2>
        <a:srgbClr val="F2F4F8"/>
      </a:lt2>
      <a:accent1>
        <a:srgbClr val="0F62FE"/>
      </a:accent1>
      <a:accent2>
        <a:srgbClr val="DA1E28"/>
      </a:accent2>
      <a:accent3>
        <a:srgbClr val="F1C21B"/>
      </a:accent3>
      <a:accent4>
        <a:srgbClr val="24A148"/>
      </a:accent4>
      <a:accent5>
        <a:srgbClr val="8D8D8D"/>
      </a:accent5>
      <a:accent6>
        <a:srgbClr val="A6C8FF"/>
      </a:accent6>
      <a:hlink>
        <a:srgbClr val="0F62FE"/>
      </a:hlink>
      <a:folHlink>
        <a:srgbClr val="6929C4"/>
      </a:folHlink>
    </a:clrScheme>
    <a:fontScheme name="StudentShie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Manchester.Ai_IBM Z Datathon 2026 Project</dc:title>
  <dc:subject>PptxGenJS Presentation</dc:subject>
  <dc:creator>Manchester.Ai</dc:creator>
  <cp:lastModifiedBy>Manchester.Ai</cp:lastModifiedBy>
  <cp:revision>1</cp:revision>
  <dcterms:created xsi:type="dcterms:W3CDTF">2026-10-18T02:01:48Z</dcterms:created>
  <dcterms:modified xsi:type="dcterms:W3CDTF">2026-10-18T02:01:48Z</dcterms:modified>
</cp:coreProperties>
</file>